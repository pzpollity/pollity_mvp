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  <p:sldMasterId id="2147483682" r:id="rId2"/>
  </p:sldMasterIdLst>
  <p:notesMasterIdLst>
    <p:notesMasterId r:id="rId8"/>
  </p:notesMasterIdLst>
  <p:handoutMasterIdLst>
    <p:handoutMasterId r:id="rId9"/>
  </p:handoutMasterIdLst>
  <p:sldIdLst>
    <p:sldId id="306" r:id="rId3"/>
    <p:sldId id="466" r:id="rId4"/>
    <p:sldId id="467" r:id="rId5"/>
    <p:sldId id="468" r:id="rId6"/>
    <p:sldId id="469" r:id="rId7"/>
  </p:sldIdLst>
  <p:sldSz cx="9729788" cy="7443788"/>
  <p:notesSz cx="7010400" cy="92964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33" userDrawn="1">
          <p15:clr>
            <a:srgbClr val="A4A3A4"/>
          </p15:clr>
        </p15:guide>
        <p15:guide id="2" pos="3161" userDrawn="1">
          <p15:clr>
            <a:srgbClr val="A4A3A4"/>
          </p15:clr>
        </p15:guide>
        <p15:guide id="3" orient="horz" pos="263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A5C3"/>
    <a:srgbClr val="50C1DC"/>
    <a:srgbClr val="49BFDB"/>
    <a:srgbClr val="00A9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12" autoAdjust="0"/>
    <p:restoredTop sz="96318" autoAdjust="0"/>
  </p:normalViewPr>
  <p:slideViewPr>
    <p:cSldViewPr snapToGrid="0">
      <p:cViewPr varScale="1">
        <p:scale>
          <a:sx n="112" d="100"/>
          <a:sy n="112" d="100"/>
        </p:scale>
        <p:origin x="606" y="108"/>
      </p:cViewPr>
      <p:guideLst>
        <p:guide pos="233"/>
        <p:guide pos="3161"/>
        <p:guide orient="horz" pos="2633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970" y="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3038475" cy="466725"/>
          </a:xfrm>
          <a:prstGeom prst="rect">
            <a:avLst/>
          </a:prstGeom>
        </p:spPr>
        <p:txBody>
          <a:bodyPr vert="horz" lIns="91400" tIns="45699" rIns="91400" bIns="4569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41" y="3"/>
            <a:ext cx="3038475" cy="466725"/>
          </a:xfrm>
          <a:prstGeom prst="rect">
            <a:avLst/>
          </a:prstGeom>
        </p:spPr>
        <p:txBody>
          <a:bodyPr vert="horz" lIns="91400" tIns="45699" rIns="91400" bIns="45699" rtlCol="0"/>
          <a:lstStyle>
            <a:lvl1pPr algn="r">
              <a:defRPr sz="1200"/>
            </a:lvl1pPr>
          </a:lstStyle>
          <a:p>
            <a:fld id="{8DC8B284-57B1-4036-9B74-81E952AC280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8829678"/>
            <a:ext cx="3038475" cy="466725"/>
          </a:xfrm>
          <a:prstGeom prst="rect">
            <a:avLst/>
          </a:prstGeom>
        </p:spPr>
        <p:txBody>
          <a:bodyPr vert="horz" lIns="91400" tIns="45699" rIns="91400" bIns="4569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41" y="8829678"/>
            <a:ext cx="3038475" cy="466725"/>
          </a:xfrm>
          <a:prstGeom prst="rect">
            <a:avLst/>
          </a:prstGeom>
        </p:spPr>
        <p:txBody>
          <a:bodyPr vert="horz" lIns="91400" tIns="45699" rIns="91400" bIns="45699" rtlCol="0" anchor="b"/>
          <a:lstStyle>
            <a:lvl1pPr algn="r">
              <a:defRPr sz="1200"/>
            </a:lvl1pPr>
          </a:lstStyle>
          <a:p>
            <a:fld id="{30570364-54C0-4344-8C51-6EB214B20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536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28" tIns="46565" rIns="93128" bIns="4656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28" tIns="46565" rIns="93128" bIns="46565" rtlCol="0"/>
          <a:lstStyle>
            <a:lvl1pPr algn="r">
              <a:defRPr sz="1200"/>
            </a:lvl1pPr>
          </a:lstStyle>
          <a:p>
            <a:fld id="{23015257-704A-4E27-A437-2C81DCDB42BD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55738" y="1162050"/>
            <a:ext cx="409892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28" tIns="46565" rIns="93128" bIns="4656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28" tIns="46565" rIns="93128" bIns="4656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70"/>
            <a:ext cx="3037840" cy="466433"/>
          </a:xfrm>
          <a:prstGeom prst="rect">
            <a:avLst/>
          </a:prstGeom>
        </p:spPr>
        <p:txBody>
          <a:bodyPr vert="horz" lIns="93128" tIns="46565" rIns="93128" bIns="46565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70"/>
            <a:ext cx="3037840" cy="466433"/>
          </a:xfrm>
          <a:prstGeom prst="rect">
            <a:avLst/>
          </a:prstGeom>
        </p:spPr>
        <p:txBody>
          <a:bodyPr vert="horz" lIns="93128" tIns="46565" rIns="93128" bIns="46565" rtlCol="0" anchor="b"/>
          <a:lstStyle>
            <a:lvl1pPr algn="r">
              <a:defRPr sz="1200"/>
            </a:lvl1pPr>
          </a:lstStyle>
          <a:p>
            <a:fld id="{9E12CF4C-3383-405E-8883-E631DB2F6F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063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2CF4C-3383-405E-8883-E631DB2F6F4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1510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12CF4C-3383-405E-8883-E631DB2F6F4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8306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12CF4C-3383-405E-8883-E631DB2F6F4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46866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12CF4C-3383-405E-8883-E631DB2F6F4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82028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12CF4C-3383-405E-8883-E631DB2F6F4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0323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Relationship Id="rId4" Type="http://schemas.openxmlformats.org/officeDocument/2006/relationships/image" Target="../media/image1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Blue horizontal line"/>
          <p:cNvCxnSpPr/>
          <p:nvPr/>
        </p:nvCxnSpPr>
        <p:spPr>
          <a:xfrm>
            <a:off x="930058" y="3810794"/>
            <a:ext cx="7793473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059" y="1223849"/>
            <a:ext cx="7790688" cy="2386584"/>
          </a:xfrm>
          <a:prstGeom prst="rect">
            <a:avLst/>
          </a:prstGeom>
        </p:spPr>
        <p:txBody>
          <a:bodyPr lIns="0" tIns="45720" rIns="45720" bIns="45720" anchor="b" anchorCtr="0">
            <a:noAutofit/>
          </a:bodyPr>
          <a:lstStyle>
            <a:lvl1pPr>
              <a:defRPr sz="4705" b="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3544" y="3904488"/>
            <a:ext cx="7790688" cy="694944"/>
          </a:xfrm>
          <a:prstGeom prst="rect">
            <a:avLst/>
          </a:prstGeom>
        </p:spPr>
        <p:txBody>
          <a:bodyPr lIns="0" rIns="45720">
            <a:noAutofit/>
          </a:bodyPr>
          <a:lstStyle>
            <a:lvl1pPr marL="0" indent="0" algn="l">
              <a:buNone/>
              <a:defRPr sz="1961">
                <a:solidFill>
                  <a:schemeClr val="tx1"/>
                </a:solidFill>
              </a:defRPr>
            </a:lvl1pPr>
            <a:lvl2pPr marL="4810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20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30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40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050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860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67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480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7" name="Picture 16" descr="Executive-MBA-Program-logo-horz-RGB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915"/>
          <a:stretch/>
        </p:blipFill>
        <p:spPr>
          <a:xfrm>
            <a:off x="5791328" y="6534753"/>
            <a:ext cx="3590726" cy="697666"/>
          </a:xfrm>
          <a:prstGeom prst="rect">
            <a:avLst/>
          </a:prstGeom>
        </p:spPr>
      </p:pic>
      <p:sp>
        <p:nvSpPr>
          <p:cNvPr id="18" name="Shape 3"/>
          <p:cNvSpPr/>
          <p:nvPr userDrawn="1"/>
        </p:nvSpPr>
        <p:spPr>
          <a:xfrm>
            <a:off x="292169" y="6136693"/>
            <a:ext cx="9089885" cy="0"/>
          </a:xfrm>
          <a:prstGeom prst="line">
            <a:avLst/>
          </a:prstGeom>
          <a:ln w="3175">
            <a:solidFill>
              <a:srgbClr val="808080"/>
            </a:solidFill>
          </a:ln>
        </p:spPr>
        <p:txBody>
          <a:bodyPr lIns="47808" tIns="47808" rIns="47808" bIns="47808"/>
          <a:lstStyle/>
          <a:p>
            <a:pPr marL="0" marR="0" lvl="0" indent="0" algn="l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75" b="0" i="0" u="none" strike="noStrike" kern="1200" cap="none" spc="0" normalizeH="0" baseline="0" noProof="0">
              <a:ln>
                <a:noFill/>
              </a:ln>
              <a:solidFill>
                <a:srgbClr val="46454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Shape 7"/>
          <p:cNvSpPr/>
          <p:nvPr userDrawn="1"/>
        </p:nvSpPr>
        <p:spPr>
          <a:xfrm>
            <a:off x="0" y="-7342"/>
            <a:ext cx="9729788" cy="396512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lIns="48767" tIns="48767" rIns="48767" bIns="48767"/>
          <a:lstStyle/>
          <a:p>
            <a:pPr>
              <a:defRPr>
                <a:solidFill>
                  <a:srgbClr val="FFFFFF"/>
                </a:solidFill>
              </a:defRPr>
            </a:pPr>
            <a:endParaRPr sz="1811">
              <a:solidFill>
                <a:srgbClr val="6B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6115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9" y="-18662"/>
            <a:ext cx="9009334" cy="950976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156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Right Pic, Left Text &amp;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8" y="0"/>
            <a:ext cx="4407408" cy="9509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cxnSp>
        <p:nvCxnSpPr>
          <p:cNvPr id="6" name="Blue horizontal line"/>
          <p:cNvCxnSpPr/>
          <p:nvPr/>
        </p:nvCxnSpPr>
        <p:spPr>
          <a:xfrm>
            <a:off x="381599" y="902494"/>
            <a:ext cx="4407408" cy="0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865181" y="-278"/>
            <a:ext cx="4864608" cy="7443788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6482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Right Pic, Lef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865181" y="-278"/>
            <a:ext cx="4864608" cy="7443788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4821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eft Pic, Right Text &amp;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240787" y="2"/>
            <a:ext cx="4678347" cy="7443787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148072" y="0"/>
            <a:ext cx="4407408" cy="9509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cxnSp>
        <p:nvCxnSpPr>
          <p:cNvPr id="7" name="Blue horizontal line"/>
          <p:cNvCxnSpPr/>
          <p:nvPr/>
        </p:nvCxnSpPr>
        <p:spPr>
          <a:xfrm>
            <a:off x="5148071" y="902494"/>
            <a:ext cx="4407408" cy="0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464464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eft Pic, Righ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240787" y="2"/>
            <a:ext cx="4678347" cy="7443787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578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Pag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360688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97864"/>
            <a:ext cx="5184648" cy="3758184"/>
          </a:xfrm>
        </p:spPr>
        <p:txBody>
          <a:bodyPr anchor="t" anchorCtr="0"/>
          <a:lstStyle>
            <a:lvl1pPr algn="r">
              <a:defRPr sz="4705" cap="all" baseline="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3" name="Bridgespan logo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2296" y="6672442"/>
            <a:ext cx="1598108" cy="612855"/>
          </a:xfrm>
          <a:prstGeom prst="rect">
            <a:avLst/>
          </a:prstGeom>
        </p:spPr>
      </p:pic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6227064" y="3758184"/>
            <a:ext cx="3300984" cy="1197864"/>
          </a:xfrm>
          <a:prstGeom prst="rect">
            <a:avLst/>
          </a:prstGeom>
        </p:spPr>
        <p:txBody>
          <a:bodyPr lIns="0" rIns="45720" anchor="b" anchorCtr="0">
            <a:noAutofit/>
          </a:bodyPr>
          <a:lstStyle>
            <a:lvl1pPr marL="0" indent="0" algn="l">
              <a:buNone/>
              <a:defRPr sz="1961">
                <a:solidFill>
                  <a:schemeClr val="tx1"/>
                </a:solidFill>
              </a:defRPr>
            </a:lvl1pPr>
            <a:lvl2pPr marL="4810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20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30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40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050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860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67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480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6" name="Blue vertical line"/>
          <p:cNvCxnSpPr/>
          <p:nvPr/>
        </p:nvCxnSpPr>
        <p:spPr>
          <a:xfrm>
            <a:off x="6007100" y="1248509"/>
            <a:ext cx="0" cy="3704493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Executive-MBA-Program-logo-horz-RGB.png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915"/>
          <a:stretch/>
        </p:blipFill>
        <p:spPr>
          <a:xfrm>
            <a:off x="498258" y="6778249"/>
            <a:ext cx="2065090" cy="401240"/>
          </a:xfrm>
          <a:prstGeom prst="rect">
            <a:avLst/>
          </a:prstGeom>
        </p:spPr>
      </p:pic>
      <p:sp>
        <p:nvSpPr>
          <p:cNvPr id="8" name="Shape 3"/>
          <p:cNvSpPr/>
          <p:nvPr userDrawn="1"/>
        </p:nvSpPr>
        <p:spPr>
          <a:xfrm>
            <a:off x="315318" y="6541807"/>
            <a:ext cx="9089885" cy="0"/>
          </a:xfrm>
          <a:prstGeom prst="line">
            <a:avLst/>
          </a:prstGeom>
          <a:ln w="3175">
            <a:solidFill>
              <a:srgbClr val="808080"/>
            </a:solidFill>
          </a:ln>
        </p:spPr>
        <p:txBody>
          <a:bodyPr lIns="47808" tIns="47808" rIns="47808" bIns="47808"/>
          <a:lstStyle/>
          <a:p>
            <a:pPr marL="0" marR="0" lvl="0" indent="0" algn="l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75" b="0" i="0" u="none" strike="noStrike" kern="1200" cap="none" spc="0" normalizeH="0" baseline="0" noProof="0">
              <a:ln>
                <a:noFill/>
              </a:ln>
              <a:solidFill>
                <a:srgbClr val="46454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9844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244318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Blue horizontal line"/>
          <p:cNvCxnSpPr/>
          <p:nvPr/>
        </p:nvCxnSpPr>
        <p:spPr>
          <a:xfrm>
            <a:off x="930058" y="3810794"/>
            <a:ext cx="7793473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059" y="1223849"/>
            <a:ext cx="7790688" cy="2386584"/>
          </a:xfrm>
          <a:prstGeom prst="rect">
            <a:avLst/>
          </a:prstGeom>
        </p:spPr>
        <p:txBody>
          <a:bodyPr lIns="0" tIns="45720" rIns="45720" bIns="45720" anchor="b" anchorCtr="0">
            <a:noAutofit/>
          </a:bodyPr>
          <a:lstStyle>
            <a:lvl1pPr>
              <a:defRPr sz="4705" b="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3544" y="3904488"/>
            <a:ext cx="7790688" cy="694944"/>
          </a:xfrm>
          <a:prstGeom prst="rect">
            <a:avLst/>
          </a:prstGeom>
        </p:spPr>
        <p:txBody>
          <a:bodyPr lIns="0" rIns="45720">
            <a:noAutofit/>
          </a:bodyPr>
          <a:lstStyle>
            <a:lvl1pPr marL="0" indent="0" algn="l">
              <a:buNone/>
              <a:defRPr sz="1961">
                <a:solidFill>
                  <a:schemeClr val="tx1"/>
                </a:solidFill>
              </a:defRPr>
            </a:lvl1pPr>
            <a:lvl2pPr marL="4810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20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30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40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050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860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67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480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7" name="Picture 16" descr="Executive-MBA-Program-logo-horz-RGB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915"/>
          <a:stretch/>
        </p:blipFill>
        <p:spPr>
          <a:xfrm>
            <a:off x="5791328" y="6534753"/>
            <a:ext cx="3590726" cy="697666"/>
          </a:xfrm>
          <a:prstGeom prst="rect">
            <a:avLst/>
          </a:prstGeom>
        </p:spPr>
      </p:pic>
      <p:sp>
        <p:nvSpPr>
          <p:cNvPr id="18" name="Shape 3"/>
          <p:cNvSpPr/>
          <p:nvPr userDrawn="1"/>
        </p:nvSpPr>
        <p:spPr>
          <a:xfrm>
            <a:off x="292169" y="6136693"/>
            <a:ext cx="9089885" cy="0"/>
          </a:xfrm>
          <a:prstGeom prst="line">
            <a:avLst/>
          </a:prstGeom>
          <a:ln w="3175">
            <a:solidFill>
              <a:srgbClr val="808080"/>
            </a:solidFill>
          </a:ln>
        </p:spPr>
        <p:txBody>
          <a:bodyPr lIns="47808" tIns="47808" rIns="47808" bIns="47808"/>
          <a:lstStyle/>
          <a:p>
            <a:pPr marL="0" marR="0" lvl="0" indent="0" algn="l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75" b="0" i="0" u="none" strike="noStrike" kern="1200" cap="none" spc="0" normalizeH="0" baseline="0" noProof="0">
              <a:ln>
                <a:noFill/>
              </a:ln>
              <a:solidFill>
                <a:srgbClr val="46454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Shape 7"/>
          <p:cNvSpPr/>
          <p:nvPr userDrawn="1"/>
        </p:nvSpPr>
        <p:spPr>
          <a:xfrm>
            <a:off x="0" y="-7342"/>
            <a:ext cx="9729788" cy="396512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lIns="48767" tIns="48767" rIns="48767" bIns="48767"/>
          <a:lstStyle/>
          <a:p>
            <a:pPr>
              <a:defRPr>
                <a:solidFill>
                  <a:srgbClr val="FFFFFF"/>
                </a:solidFill>
              </a:defRPr>
            </a:pPr>
            <a:endParaRPr sz="1811">
              <a:solidFill>
                <a:srgbClr val="6B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1279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9" y="-18662"/>
            <a:ext cx="9009334" cy="950976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0205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Right Pic, Left Text &amp;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8" y="0"/>
            <a:ext cx="4407408" cy="9509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cxnSp>
        <p:nvCxnSpPr>
          <p:cNvPr id="6" name="Blue horizontal line"/>
          <p:cNvCxnSpPr/>
          <p:nvPr/>
        </p:nvCxnSpPr>
        <p:spPr>
          <a:xfrm>
            <a:off x="381599" y="902494"/>
            <a:ext cx="4407408" cy="0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865181" y="-278"/>
            <a:ext cx="4864608" cy="7443788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07959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Right Pic, Lef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865181" y="-278"/>
            <a:ext cx="4864608" cy="7443788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75098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eft Pic, Right Text &amp;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240787" y="2"/>
            <a:ext cx="4678347" cy="7443787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148072" y="0"/>
            <a:ext cx="4407408" cy="9509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cxnSp>
        <p:nvCxnSpPr>
          <p:cNvPr id="7" name="Blue horizontal line"/>
          <p:cNvCxnSpPr/>
          <p:nvPr/>
        </p:nvCxnSpPr>
        <p:spPr>
          <a:xfrm>
            <a:off x="5148071" y="902494"/>
            <a:ext cx="4407408" cy="0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0562707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eft Pic, Righ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240787" y="2"/>
            <a:ext cx="4678347" cy="7443787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19456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Pag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3134051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97864"/>
            <a:ext cx="5184648" cy="3758184"/>
          </a:xfrm>
        </p:spPr>
        <p:txBody>
          <a:bodyPr anchor="t" anchorCtr="0"/>
          <a:lstStyle>
            <a:lvl1pPr algn="r">
              <a:defRPr sz="4705" cap="all" baseline="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3" name="Bridgespan logo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2296" y="6672442"/>
            <a:ext cx="1598108" cy="612855"/>
          </a:xfrm>
          <a:prstGeom prst="rect">
            <a:avLst/>
          </a:prstGeom>
        </p:spPr>
      </p:pic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6227064" y="3758184"/>
            <a:ext cx="3300984" cy="1197864"/>
          </a:xfrm>
          <a:prstGeom prst="rect">
            <a:avLst/>
          </a:prstGeom>
        </p:spPr>
        <p:txBody>
          <a:bodyPr lIns="0" rIns="45720" anchor="b" anchorCtr="0">
            <a:noAutofit/>
          </a:bodyPr>
          <a:lstStyle>
            <a:lvl1pPr marL="0" indent="0" algn="l">
              <a:buNone/>
              <a:defRPr sz="1961">
                <a:solidFill>
                  <a:schemeClr val="tx1"/>
                </a:solidFill>
              </a:defRPr>
            </a:lvl1pPr>
            <a:lvl2pPr marL="4810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20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30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40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050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860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67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480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6" name="Blue vertical line"/>
          <p:cNvCxnSpPr/>
          <p:nvPr/>
        </p:nvCxnSpPr>
        <p:spPr>
          <a:xfrm>
            <a:off x="6007100" y="1248509"/>
            <a:ext cx="0" cy="3704493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Executive-MBA-Program-logo-horz-RGB.png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915"/>
          <a:stretch/>
        </p:blipFill>
        <p:spPr>
          <a:xfrm>
            <a:off x="498258" y="6778249"/>
            <a:ext cx="2065090" cy="401240"/>
          </a:xfrm>
          <a:prstGeom prst="rect">
            <a:avLst/>
          </a:prstGeom>
        </p:spPr>
      </p:pic>
      <p:sp>
        <p:nvSpPr>
          <p:cNvPr id="8" name="Shape 3"/>
          <p:cNvSpPr/>
          <p:nvPr userDrawn="1"/>
        </p:nvSpPr>
        <p:spPr>
          <a:xfrm>
            <a:off x="315318" y="6541807"/>
            <a:ext cx="9089885" cy="0"/>
          </a:xfrm>
          <a:prstGeom prst="line">
            <a:avLst/>
          </a:prstGeom>
          <a:ln w="3175">
            <a:solidFill>
              <a:srgbClr val="808080"/>
            </a:solidFill>
          </a:ln>
        </p:spPr>
        <p:txBody>
          <a:bodyPr lIns="47808" tIns="47808" rIns="47808" bIns="47808"/>
          <a:lstStyle/>
          <a:p>
            <a:pPr marL="0" marR="0" lvl="0" indent="0" algn="l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75" b="0" i="0" u="none" strike="noStrike" kern="1200" cap="none" spc="0" normalizeH="0" baseline="0" noProof="0">
              <a:ln>
                <a:noFill/>
              </a:ln>
              <a:solidFill>
                <a:srgbClr val="46454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18992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15270858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07963">
              <a:buClrTx/>
              <a:buSzPct val="75000"/>
              <a:buFont typeface="Arial" panose="020B0604020202020204" pitchFamily="34" charset="0"/>
              <a:buChar char="•"/>
              <a:defRPr sz="2400">
                <a:latin typeface="+mj-lt"/>
              </a:defRPr>
            </a:lvl1pPr>
            <a:lvl2pPr marL="685800" indent="-228600">
              <a:buClrTx/>
              <a:buSzPct val="75000"/>
              <a:buFont typeface="Arial" panose="020B0604020202020204" pitchFamily="34" charset="0"/>
              <a:buChar char="•"/>
              <a:defRPr sz="2000">
                <a:latin typeface="+mj-lt"/>
              </a:defRPr>
            </a:lvl2pPr>
            <a:lvl3pPr marL="1030288" indent="-230188">
              <a:buClrTx/>
              <a:buSzPct val="75000"/>
              <a:buFont typeface="Arial" panose="020B0604020202020204" pitchFamily="34" charset="0"/>
              <a:buChar char="•"/>
              <a:defRPr sz="1800">
                <a:latin typeface="+mj-lt"/>
              </a:defRPr>
            </a:lvl3pPr>
            <a:lvl4pPr marL="1371600" indent="-228600">
              <a:buClrTx/>
              <a:buSzPct val="75000"/>
              <a:buFont typeface="Arial" panose="020B0604020202020204" pitchFamily="34" charset="0"/>
              <a:buChar char="•"/>
              <a:defRPr sz="1600">
                <a:latin typeface="+mj-lt"/>
              </a:defRPr>
            </a:lvl4pPr>
            <a:lvl5pPr marL="1828800" indent="-228600">
              <a:buClrTx/>
              <a:buSzPct val="75000"/>
              <a:buFont typeface="Arial" panose="020B0604020202020204" pitchFamily="34" charset="0"/>
              <a:buChar char="•"/>
              <a:tabLst/>
              <a:defRPr sz="14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779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tags" Target="../tags/tag14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ags" Target="../tags/tag13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title"/>
          <p:cNvSpPr>
            <a:spLocks noGrp="1" noChangeArrowheads="1"/>
          </p:cNvSpPr>
          <p:nvPr>
            <p:ph type="title"/>
          </p:nvPr>
        </p:nvSpPr>
        <p:spPr bwMode="gray">
          <a:xfrm>
            <a:off x="315318" y="443148"/>
            <a:ext cx="9089885" cy="960771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/>
          <a:p>
            <a:pPr lvl="0"/>
            <a:endParaRPr lang="en-CA" noProof="1"/>
          </a:p>
        </p:txBody>
      </p:sp>
      <p:sp>
        <p:nvSpPr>
          <p:cNvPr id="4" name="BainNotesBox"/>
          <p:cNvSpPr txBox="1"/>
          <p:nvPr/>
        </p:nvSpPr>
        <p:spPr>
          <a:xfrm>
            <a:off x="384049" y="7224875"/>
            <a:ext cx="9191307" cy="200055"/>
          </a:xfrm>
          <a:prstGeom prst="rect">
            <a:avLst/>
          </a:prstGeom>
          <a:noFill/>
        </p:spPr>
        <p:txBody>
          <a:bodyPr vert="horz" wrap="square" lIns="0" tIns="0" rIns="0" bIns="44821" rtlCol="0" anchor="b">
            <a:spAutoFit/>
          </a:bodyPr>
          <a:lstStyle/>
          <a:p>
            <a:pPr marL="0" marR="0" lvl="0" indent="0" algn="l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80" b="0" i="0" u="none" strike="noStrike" kern="1200" cap="none" spc="0" normalizeH="0" baseline="0" noProof="0" dirty="0">
                <a:ln>
                  <a:noFill/>
                </a:ln>
                <a:solidFill>
                  <a:srgbClr val="46454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  <p:cxnSp>
        <p:nvCxnSpPr>
          <p:cNvPr id="10" name="Blue horiz line"/>
          <p:cNvCxnSpPr/>
          <p:nvPr/>
        </p:nvCxnSpPr>
        <p:spPr>
          <a:xfrm>
            <a:off x="300924" y="1364305"/>
            <a:ext cx="9104279" cy="0"/>
          </a:xfrm>
          <a:prstGeom prst="line">
            <a:avLst/>
          </a:prstGeom>
          <a:ln w="28575" cap="rnd">
            <a:solidFill>
              <a:schemeClr val="bg1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300924" y="1494940"/>
            <a:ext cx="9104279" cy="481042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noAutofit/>
          </a:bodyPr>
          <a:lstStyle/>
          <a:p>
            <a:pPr marL="178967" lvl="0" indent="-178967" defTabSz="962002">
              <a:spcBef>
                <a:spcPts val="894"/>
              </a:spcBef>
              <a:spcAft>
                <a:spcPts val="0"/>
              </a:spcAft>
              <a:buClrTx/>
              <a:buSzPct val="100000"/>
            </a:pPr>
            <a:r>
              <a:rPr lang="en-US" dirty="0"/>
              <a:t>Click to edit Master text styles</a:t>
            </a:r>
          </a:p>
          <a:p>
            <a:pPr marL="440413" lvl="1" indent="-178967" defTabSz="962002">
              <a:spcBef>
                <a:spcPts val="400"/>
              </a:spcBef>
              <a:spcAft>
                <a:spcPts val="0"/>
              </a:spcAft>
              <a:buClrTx/>
              <a:buSzPct val="100000"/>
              <a:buFont typeface="Verdana" panose="020B0604030504040204" pitchFamily="34" charset="0"/>
            </a:pPr>
            <a:r>
              <a:rPr lang="en-US" dirty="0"/>
              <a:t>Second level</a:t>
            </a:r>
          </a:p>
          <a:p>
            <a:pPr marL="785895" lvl="2" indent="-188304" defTabSz="962002">
              <a:spcBef>
                <a:spcPts val="400"/>
              </a:spcBef>
              <a:spcAft>
                <a:spcPts val="0"/>
              </a:spcAft>
              <a:buClrTx/>
              <a:buSzPct val="140000"/>
              <a:buFont typeface="Verdana" panose="020B0604030504040204" pitchFamily="34" charset="0"/>
              <a:buChar char="‣"/>
            </a:pPr>
            <a:r>
              <a:rPr lang="en-US" dirty="0"/>
              <a:t>Third level</a:t>
            </a:r>
          </a:p>
          <a:p>
            <a:pPr marL="1443003" lvl="3" indent="-210091">
              <a:buClr>
                <a:schemeClr val="bg1"/>
              </a:buClr>
            </a:pPr>
            <a:r>
              <a:rPr lang="en-US" dirty="0"/>
              <a:t>Fourth level</a:t>
            </a:r>
          </a:p>
        </p:txBody>
      </p:sp>
      <p:sp>
        <p:nvSpPr>
          <p:cNvPr id="15" name="SlideNumber"/>
          <p:cNvSpPr/>
          <p:nvPr/>
        </p:nvSpPr>
        <p:spPr>
          <a:xfrm>
            <a:off x="9272016" y="7278624"/>
            <a:ext cx="320040" cy="91440"/>
          </a:xfrm>
          <a:prstGeom prst="round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/>
          <a:lstStyle/>
          <a:p>
            <a:pPr marL="0" marR="0" lvl="0" indent="0" algn="ctr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69BBE8-4DB2-4642-B003-B220ACD5A2FD}" type="slidenum">
              <a:rPr kumimoji="0" lang="en-US" sz="980" b="1" i="0" u="none" strike="noStrike" kern="1200" cap="none" spc="0" normalizeH="0" baseline="0" noProof="0" smtClean="0">
                <a:ln>
                  <a:noFill/>
                </a:ln>
                <a:solidFill>
                  <a:srgbClr val="46454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8963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FR" sz="980" b="1" i="0" u="none" strike="noStrike" kern="1200" cap="none" spc="0" normalizeH="0" baseline="0" noProof="0" dirty="0">
              <a:ln>
                <a:noFill/>
              </a:ln>
              <a:solidFill>
                <a:srgbClr val="46454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reatedFooter" hidden="1"/>
          <p:cNvSpPr txBox="1"/>
          <p:nvPr/>
        </p:nvSpPr>
        <p:spPr>
          <a:xfrm>
            <a:off x="8165593" y="7278626"/>
            <a:ext cx="1056379" cy="923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0" algn="l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58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LFI-Achieving-strategic- ... 170822</a:t>
            </a:r>
            <a:endParaRPr kumimoji="0" lang="en-CA" sz="588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BainStatusStickerPosition" hidden="1"/>
          <p:cNvSpPr/>
          <p:nvPr/>
        </p:nvSpPr>
        <p:spPr>
          <a:xfrm>
            <a:off x="9456677" y="1005840"/>
            <a:ext cx="127000" cy="127000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5292" tIns="35292" rIns="35292" bIns="3529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76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  <p:sp>
        <p:nvSpPr>
          <p:cNvPr id="14" name="OfficeCode" hidden="1"/>
          <p:cNvSpPr txBox="1"/>
          <p:nvPr/>
        </p:nvSpPr>
        <p:spPr>
          <a:xfrm>
            <a:off x="7754112" y="7278626"/>
            <a:ext cx="126638" cy="923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0" algn="l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58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TBG</a:t>
            </a:r>
          </a:p>
        </p:txBody>
      </p:sp>
      <p:sp>
        <p:nvSpPr>
          <p:cNvPr id="18" name="BainStatusStickerPosition" hidden="1"/>
          <p:cNvSpPr/>
          <p:nvPr/>
        </p:nvSpPr>
        <p:spPr>
          <a:xfrm>
            <a:off x="9456677" y="1005840"/>
            <a:ext cx="127000" cy="127000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5292" tIns="35292" rIns="35292" bIns="3529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76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  <p:pic>
        <p:nvPicPr>
          <p:cNvPr id="24" name="Picture 23" descr="Executive-MBA-Program-logo-horz-RGB.png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915"/>
          <a:stretch/>
        </p:blipFill>
        <p:spPr>
          <a:xfrm>
            <a:off x="498258" y="6778249"/>
            <a:ext cx="2065090" cy="401240"/>
          </a:xfrm>
          <a:prstGeom prst="rect">
            <a:avLst/>
          </a:prstGeom>
        </p:spPr>
      </p:pic>
      <p:sp>
        <p:nvSpPr>
          <p:cNvPr id="25" name="Shape 3"/>
          <p:cNvSpPr/>
          <p:nvPr userDrawn="1"/>
        </p:nvSpPr>
        <p:spPr>
          <a:xfrm>
            <a:off x="315318" y="6541807"/>
            <a:ext cx="9089885" cy="0"/>
          </a:xfrm>
          <a:prstGeom prst="line">
            <a:avLst/>
          </a:prstGeom>
          <a:ln w="3175">
            <a:solidFill>
              <a:srgbClr val="808080"/>
            </a:solidFill>
          </a:ln>
        </p:spPr>
        <p:txBody>
          <a:bodyPr lIns="47808" tIns="47808" rIns="47808" bIns="47808"/>
          <a:lstStyle/>
          <a:p>
            <a:pPr marL="0" marR="0" lvl="0" indent="0" algn="l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75" b="0" i="0" u="none" strike="noStrike" kern="1200" cap="none" spc="0" normalizeH="0" baseline="0" noProof="0">
              <a:ln>
                <a:noFill/>
              </a:ln>
              <a:solidFill>
                <a:srgbClr val="46454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Shape 7"/>
          <p:cNvSpPr/>
          <p:nvPr userDrawn="1"/>
        </p:nvSpPr>
        <p:spPr>
          <a:xfrm>
            <a:off x="0" y="-7342"/>
            <a:ext cx="9729788" cy="396512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lIns="48767" tIns="48767" rIns="48767" bIns="48767"/>
          <a:lstStyle/>
          <a:p>
            <a:pPr>
              <a:defRPr>
                <a:solidFill>
                  <a:srgbClr val="FFFFFF"/>
                </a:solidFill>
              </a:defRPr>
            </a:pPr>
            <a:endParaRPr sz="1811">
              <a:solidFill>
                <a:srgbClr val="6B0000"/>
              </a:solidFill>
            </a:endParaRPr>
          </a:p>
        </p:txBody>
      </p:sp>
    </p:spTree>
    <p:custDataLst>
      <p:tags r:id="rId11"/>
    </p:custDataLst>
    <p:extLst>
      <p:ext uri="{BB962C8B-B14F-4D97-AF65-F5344CB8AC3E}">
        <p14:creationId xmlns:p14="http://schemas.microsoft.com/office/powerpoint/2010/main" val="1974033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</p:sldLayoutIdLst>
  <p:txStyles>
    <p:titleStyle>
      <a:lvl1pPr algn="l" defTabSz="962002" rtl="0" eaLnBrk="1" latinLnBrk="0" hangingPunct="1">
        <a:spcBef>
          <a:spcPct val="0"/>
        </a:spcBef>
        <a:buNone/>
        <a:defRPr lang="en-CA" sz="2745" kern="1200" noProof="1" smtClean="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66115" marR="0" indent="-266115" algn="l" defTabSz="961748" rtl="0" eaLnBrk="1" fontAlgn="base" latinLnBrk="0" hangingPunct="1">
        <a:lnSpc>
          <a:spcPct val="100000"/>
        </a:lnSpc>
        <a:spcBef>
          <a:spcPct val="40000"/>
        </a:spcBef>
        <a:spcAft>
          <a:spcPct val="0"/>
        </a:spcAft>
        <a:buClr>
          <a:srgbClr val="464547"/>
        </a:buClr>
        <a:buSzPts val="2400"/>
        <a:buFont typeface="Verdana" pitchFamily="34" charset="0"/>
        <a:buChar char="•"/>
        <a:tabLst/>
        <a:defRPr kumimoji="0" lang="en-US" altLang="zh-CN" sz="1765" b="0" i="0" u="none" strike="noStrike" kern="1200" cap="none" spc="0" normalizeH="0" baseline="0" noProof="1" dirty="0" smtClean="0">
          <a:ln>
            <a:noFill/>
          </a:ln>
          <a:solidFill>
            <a:schemeClr val="tx1"/>
          </a:solidFill>
          <a:effectLst/>
          <a:uLnTx/>
          <a:uFillTx/>
          <a:latin typeface="Calibri" panose="020F0502020204030204" pitchFamily="34" charset="0"/>
          <a:ea typeface="+mn-ea"/>
          <a:cs typeface="+mn-cs"/>
        </a:defRPr>
      </a:lvl1pPr>
      <a:lvl2pPr marL="563354" marR="0" indent="-116717" algn="l" defTabSz="961748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SzPts val="2200"/>
        <a:buFont typeface="Verdana"/>
        <a:buChar char="-"/>
        <a:tabLst/>
        <a:defRPr lang="en-US" altLang="zh-CN" sz="1568" kern="1200" baseline="0" noProof="1" dirty="0" smtClean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031778" marR="0" indent="-281677" algn="l" defTabSz="961748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SzPts val="2200"/>
        <a:buFont typeface="Marlett" pitchFamily="2" charset="2"/>
        <a:buChar char="8"/>
        <a:tabLst/>
        <a:defRPr lang="en-US" altLang="en-US" sz="1568" kern="1200" noProof="1" dirty="0" smtClean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425254" marR="0" indent="-206169" algn="l" defTabSz="96200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tx1"/>
        </a:buClr>
        <a:buSzTx/>
        <a:buFont typeface="Verdana" pitchFamily="34" charset="0"/>
        <a:buChar char="-"/>
        <a:tabLst/>
        <a:defRPr lang="en-US" altLang="zh-CN" sz="1568" kern="1200" dirty="0" smtClean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164504" indent="-240501" algn="l" defTabSz="962002" rtl="0" eaLnBrk="1" latinLnBrk="0" hangingPunct="1">
        <a:spcBef>
          <a:spcPct val="20000"/>
        </a:spcBef>
        <a:buFont typeface="Arial" pitchFamily="34" charset="0"/>
        <a:buChar char="»"/>
        <a:defRPr sz="2353" kern="1200">
          <a:solidFill>
            <a:schemeClr val="tx1"/>
          </a:solidFill>
          <a:latin typeface="Verdana" pitchFamily="34" charset="0"/>
          <a:ea typeface="+mn-ea"/>
          <a:cs typeface="+mn-cs"/>
        </a:defRPr>
      </a:lvl5pPr>
      <a:lvl6pPr marL="2645505" indent="-240501" algn="l" defTabSz="962002" rtl="0" eaLnBrk="1" latinLnBrk="0" hangingPunct="1">
        <a:spcBef>
          <a:spcPct val="20000"/>
        </a:spcBef>
        <a:buFont typeface="Arial" pitchFamily="34" charset="0"/>
        <a:buChar char="•"/>
        <a:defRPr sz="2059" kern="1200">
          <a:solidFill>
            <a:schemeClr val="tx1"/>
          </a:solidFill>
          <a:latin typeface="+mn-lt"/>
          <a:ea typeface="+mn-ea"/>
          <a:cs typeface="+mn-cs"/>
        </a:defRPr>
      </a:lvl6pPr>
      <a:lvl7pPr marL="3126506" indent="-240501" algn="l" defTabSz="962002" rtl="0" eaLnBrk="1" latinLnBrk="0" hangingPunct="1">
        <a:spcBef>
          <a:spcPct val="20000"/>
        </a:spcBef>
        <a:buFont typeface="Arial" pitchFamily="34" charset="0"/>
        <a:buChar char="•"/>
        <a:defRPr sz="2059" kern="1200">
          <a:solidFill>
            <a:schemeClr val="tx1"/>
          </a:solidFill>
          <a:latin typeface="+mn-lt"/>
          <a:ea typeface="+mn-ea"/>
          <a:cs typeface="+mn-cs"/>
        </a:defRPr>
      </a:lvl7pPr>
      <a:lvl8pPr marL="3607507" indent="-240501" algn="l" defTabSz="962002" rtl="0" eaLnBrk="1" latinLnBrk="0" hangingPunct="1">
        <a:spcBef>
          <a:spcPct val="20000"/>
        </a:spcBef>
        <a:buFont typeface="Arial" pitchFamily="34" charset="0"/>
        <a:buChar char="•"/>
        <a:defRPr sz="2059" kern="1200">
          <a:solidFill>
            <a:schemeClr val="tx1"/>
          </a:solidFill>
          <a:latin typeface="+mn-lt"/>
          <a:ea typeface="+mn-ea"/>
          <a:cs typeface="+mn-cs"/>
        </a:defRPr>
      </a:lvl8pPr>
      <a:lvl9pPr marL="4088508" indent="-240501" algn="l" defTabSz="962002" rtl="0" eaLnBrk="1" latinLnBrk="0" hangingPunct="1">
        <a:spcBef>
          <a:spcPct val="20000"/>
        </a:spcBef>
        <a:buFont typeface="Arial" pitchFamily="34" charset="0"/>
        <a:buChar char="•"/>
        <a:defRPr sz="20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2002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81001" algn="l" defTabSz="962002" rtl="0" eaLnBrk="1" latinLnBrk="0" hangingPunct="1">
        <a:defRPr sz="1863" kern="1200">
          <a:solidFill>
            <a:schemeClr val="tx1"/>
          </a:solidFill>
          <a:latin typeface="+mn-lt"/>
          <a:ea typeface="+mn-ea"/>
          <a:cs typeface="+mn-cs"/>
        </a:defRPr>
      </a:lvl2pPr>
      <a:lvl3pPr marL="962002" algn="l" defTabSz="962002" rtl="0" eaLnBrk="1" latinLnBrk="0" hangingPunct="1">
        <a:defRPr sz="1863" kern="1200">
          <a:solidFill>
            <a:schemeClr val="tx1"/>
          </a:solidFill>
          <a:latin typeface="+mn-lt"/>
          <a:ea typeface="+mn-ea"/>
          <a:cs typeface="+mn-cs"/>
        </a:defRPr>
      </a:lvl3pPr>
      <a:lvl4pPr marL="1443003" algn="l" defTabSz="962002" rtl="0" eaLnBrk="1" latinLnBrk="0" hangingPunct="1">
        <a:defRPr sz="1863" kern="1200">
          <a:solidFill>
            <a:schemeClr val="tx1"/>
          </a:solidFill>
          <a:latin typeface="+mn-lt"/>
          <a:ea typeface="+mn-ea"/>
          <a:cs typeface="+mn-cs"/>
        </a:defRPr>
      </a:lvl4pPr>
      <a:lvl5pPr marL="1924003" algn="l" defTabSz="962002" rtl="0" eaLnBrk="1" latinLnBrk="0" hangingPunct="1">
        <a:defRPr sz="1863" kern="1200">
          <a:solidFill>
            <a:schemeClr val="tx1"/>
          </a:solidFill>
          <a:latin typeface="+mn-lt"/>
          <a:ea typeface="+mn-ea"/>
          <a:cs typeface="+mn-cs"/>
        </a:defRPr>
      </a:lvl5pPr>
      <a:lvl6pPr marL="2405004" algn="l" defTabSz="962002" rtl="0" eaLnBrk="1" latinLnBrk="0" hangingPunct="1">
        <a:defRPr sz="1863" kern="1200">
          <a:solidFill>
            <a:schemeClr val="tx1"/>
          </a:solidFill>
          <a:latin typeface="+mn-lt"/>
          <a:ea typeface="+mn-ea"/>
          <a:cs typeface="+mn-cs"/>
        </a:defRPr>
      </a:lvl6pPr>
      <a:lvl7pPr marL="2886005" algn="l" defTabSz="962002" rtl="0" eaLnBrk="1" latinLnBrk="0" hangingPunct="1">
        <a:defRPr sz="1863" kern="1200">
          <a:solidFill>
            <a:schemeClr val="tx1"/>
          </a:solidFill>
          <a:latin typeface="+mn-lt"/>
          <a:ea typeface="+mn-ea"/>
          <a:cs typeface="+mn-cs"/>
        </a:defRPr>
      </a:lvl7pPr>
      <a:lvl8pPr marL="3367006" algn="l" defTabSz="962002" rtl="0" eaLnBrk="1" latinLnBrk="0" hangingPunct="1">
        <a:defRPr sz="1863" kern="1200">
          <a:solidFill>
            <a:schemeClr val="tx1"/>
          </a:solidFill>
          <a:latin typeface="+mn-lt"/>
          <a:ea typeface="+mn-ea"/>
          <a:cs typeface="+mn-cs"/>
        </a:defRPr>
      </a:lvl8pPr>
      <a:lvl9pPr marL="3848007" algn="l" defTabSz="962002" rtl="0" eaLnBrk="1" latinLnBrk="0" hangingPunct="1">
        <a:defRPr sz="18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title"/>
          <p:cNvSpPr>
            <a:spLocks noGrp="1" noChangeArrowheads="1"/>
          </p:cNvSpPr>
          <p:nvPr>
            <p:ph type="title"/>
          </p:nvPr>
        </p:nvSpPr>
        <p:spPr bwMode="gray">
          <a:xfrm>
            <a:off x="315318" y="443148"/>
            <a:ext cx="9089885" cy="960771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/>
          <a:p>
            <a:pPr lvl="0"/>
            <a:endParaRPr lang="en-CA" noProof="1"/>
          </a:p>
        </p:txBody>
      </p:sp>
      <p:sp>
        <p:nvSpPr>
          <p:cNvPr id="4" name="BainNotesBox"/>
          <p:cNvSpPr txBox="1"/>
          <p:nvPr/>
        </p:nvSpPr>
        <p:spPr>
          <a:xfrm>
            <a:off x="384049" y="7224875"/>
            <a:ext cx="9191307" cy="200055"/>
          </a:xfrm>
          <a:prstGeom prst="rect">
            <a:avLst/>
          </a:prstGeom>
          <a:noFill/>
        </p:spPr>
        <p:txBody>
          <a:bodyPr vert="horz" wrap="square" lIns="0" tIns="0" rIns="0" bIns="44821" rtlCol="0" anchor="b">
            <a:spAutoFit/>
          </a:bodyPr>
          <a:lstStyle/>
          <a:p>
            <a:pPr marL="0" marR="0" lvl="0" indent="0" algn="l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80" b="0" i="0" u="none" strike="noStrike" kern="1200" cap="none" spc="0" normalizeH="0" baseline="0" noProof="0" dirty="0">
                <a:ln>
                  <a:noFill/>
                </a:ln>
                <a:solidFill>
                  <a:srgbClr val="46454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  <p:cxnSp>
        <p:nvCxnSpPr>
          <p:cNvPr id="10" name="Blue horiz line"/>
          <p:cNvCxnSpPr/>
          <p:nvPr/>
        </p:nvCxnSpPr>
        <p:spPr>
          <a:xfrm>
            <a:off x="300924" y="1364305"/>
            <a:ext cx="9104279" cy="0"/>
          </a:xfrm>
          <a:prstGeom prst="line">
            <a:avLst/>
          </a:prstGeom>
          <a:ln w="28575" cap="rnd">
            <a:solidFill>
              <a:schemeClr val="bg1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00924" y="1494940"/>
            <a:ext cx="9104279" cy="481042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noAutofit/>
          </a:bodyPr>
          <a:lstStyle/>
          <a:p>
            <a:pPr marL="178967" lvl="0" indent="-178967" defTabSz="962002">
              <a:spcBef>
                <a:spcPts val="894"/>
              </a:spcBef>
              <a:spcAft>
                <a:spcPts val="0"/>
              </a:spcAft>
              <a:buClrTx/>
              <a:buSzPct val="100000"/>
            </a:pPr>
            <a:r>
              <a:rPr lang="en-US" dirty="0"/>
              <a:t>Click to edit Master text styles</a:t>
            </a:r>
          </a:p>
          <a:p>
            <a:pPr marL="440413" lvl="1" indent="-178967" defTabSz="962002">
              <a:spcBef>
                <a:spcPts val="400"/>
              </a:spcBef>
              <a:spcAft>
                <a:spcPts val="0"/>
              </a:spcAft>
              <a:buClrTx/>
              <a:buSzPct val="100000"/>
              <a:buFont typeface="Verdana" panose="020B0604030504040204" pitchFamily="34" charset="0"/>
            </a:pPr>
            <a:r>
              <a:rPr lang="en-US" dirty="0"/>
              <a:t>Second level</a:t>
            </a:r>
          </a:p>
          <a:p>
            <a:pPr marL="785895" lvl="2" indent="-188304" defTabSz="962002">
              <a:spcBef>
                <a:spcPts val="400"/>
              </a:spcBef>
              <a:spcAft>
                <a:spcPts val="0"/>
              </a:spcAft>
              <a:buClrTx/>
              <a:buSzPct val="140000"/>
              <a:buFont typeface="Verdana" panose="020B0604030504040204" pitchFamily="34" charset="0"/>
              <a:buChar char="‣"/>
            </a:pPr>
            <a:r>
              <a:rPr lang="en-US" dirty="0"/>
              <a:t>Third level</a:t>
            </a:r>
          </a:p>
          <a:p>
            <a:pPr marL="1443003" lvl="3" indent="-210091">
              <a:buClr>
                <a:schemeClr val="bg1"/>
              </a:buClr>
            </a:pPr>
            <a:r>
              <a:rPr lang="en-US" dirty="0"/>
              <a:t>Fourth level</a:t>
            </a:r>
          </a:p>
        </p:txBody>
      </p:sp>
      <p:sp>
        <p:nvSpPr>
          <p:cNvPr id="15" name="SlideNumber"/>
          <p:cNvSpPr/>
          <p:nvPr/>
        </p:nvSpPr>
        <p:spPr>
          <a:xfrm>
            <a:off x="9272016" y="7278624"/>
            <a:ext cx="320040" cy="91440"/>
          </a:xfrm>
          <a:prstGeom prst="round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/>
          <a:lstStyle/>
          <a:p>
            <a:pPr marL="0" marR="0" lvl="0" indent="0" algn="ctr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69BBE8-4DB2-4642-B003-B220ACD5A2FD}" type="slidenum">
              <a:rPr kumimoji="0" lang="en-US" sz="980" b="1" i="0" u="none" strike="noStrike" kern="1200" cap="none" spc="0" normalizeH="0" baseline="0" noProof="0" smtClean="0">
                <a:ln>
                  <a:noFill/>
                </a:ln>
                <a:solidFill>
                  <a:srgbClr val="46454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8963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FR" sz="980" b="1" i="0" u="none" strike="noStrike" kern="1200" cap="none" spc="0" normalizeH="0" baseline="0" noProof="0" dirty="0">
              <a:ln>
                <a:noFill/>
              </a:ln>
              <a:solidFill>
                <a:srgbClr val="46454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reatedFooter" hidden="1"/>
          <p:cNvSpPr txBox="1"/>
          <p:nvPr/>
        </p:nvSpPr>
        <p:spPr>
          <a:xfrm>
            <a:off x="8165593" y="7278626"/>
            <a:ext cx="1056379" cy="923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0" algn="l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58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LFI-Achieving-strategic- ... 170822</a:t>
            </a:r>
            <a:endParaRPr kumimoji="0" lang="en-CA" sz="588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BainStatusStickerPosition" hidden="1"/>
          <p:cNvSpPr/>
          <p:nvPr/>
        </p:nvSpPr>
        <p:spPr>
          <a:xfrm>
            <a:off x="9456677" y="1005840"/>
            <a:ext cx="127000" cy="127000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5292" tIns="35292" rIns="35292" bIns="3529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76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  <p:sp>
        <p:nvSpPr>
          <p:cNvPr id="14" name="OfficeCode" hidden="1"/>
          <p:cNvSpPr txBox="1"/>
          <p:nvPr/>
        </p:nvSpPr>
        <p:spPr>
          <a:xfrm>
            <a:off x="7754112" y="7278626"/>
            <a:ext cx="126638" cy="923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0" algn="l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58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TBG</a:t>
            </a:r>
          </a:p>
        </p:txBody>
      </p:sp>
      <p:sp>
        <p:nvSpPr>
          <p:cNvPr id="18" name="BainStatusStickerPosition" hidden="1"/>
          <p:cNvSpPr/>
          <p:nvPr/>
        </p:nvSpPr>
        <p:spPr>
          <a:xfrm>
            <a:off x="9456677" y="1005840"/>
            <a:ext cx="127000" cy="127000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5292" tIns="35292" rIns="35292" bIns="3529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76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  <p:pic>
        <p:nvPicPr>
          <p:cNvPr id="24" name="Picture 23" descr="Executive-MBA-Program-logo-horz-RGB.png"/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915"/>
          <a:stretch/>
        </p:blipFill>
        <p:spPr>
          <a:xfrm>
            <a:off x="498258" y="6778249"/>
            <a:ext cx="2065090" cy="401240"/>
          </a:xfrm>
          <a:prstGeom prst="rect">
            <a:avLst/>
          </a:prstGeom>
        </p:spPr>
      </p:pic>
      <p:sp>
        <p:nvSpPr>
          <p:cNvPr id="25" name="Shape 3"/>
          <p:cNvSpPr/>
          <p:nvPr userDrawn="1"/>
        </p:nvSpPr>
        <p:spPr>
          <a:xfrm>
            <a:off x="315318" y="6541807"/>
            <a:ext cx="9089885" cy="0"/>
          </a:xfrm>
          <a:prstGeom prst="line">
            <a:avLst/>
          </a:prstGeom>
          <a:ln w="3175">
            <a:solidFill>
              <a:srgbClr val="808080"/>
            </a:solidFill>
          </a:ln>
        </p:spPr>
        <p:txBody>
          <a:bodyPr lIns="47808" tIns="47808" rIns="47808" bIns="47808"/>
          <a:lstStyle/>
          <a:p>
            <a:pPr marL="0" marR="0" lvl="0" indent="0" algn="l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75" b="0" i="0" u="none" strike="noStrike" kern="1200" cap="none" spc="0" normalizeH="0" baseline="0" noProof="0">
              <a:ln>
                <a:noFill/>
              </a:ln>
              <a:solidFill>
                <a:srgbClr val="46454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Shape 7"/>
          <p:cNvSpPr/>
          <p:nvPr userDrawn="1"/>
        </p:nvSpPr>
        <p:spPr>
          <a:xfrm>
            <a:off x="0" y="-7342"/>
            <a:ext cx="9729788" cy="396512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lIns="48767" tIns="48767" rIns="48767" bIns="48767"/>
          <a:lstStyle/>
          <a:p>
            <a:pPr>
              <a:defRPr>
                <a:solidFill>
                  <a:srgbClr val="FFFFFF"/>
                </a:solidFill>
              </a:defRPr>
            </a:pPr>
            <a:endParaRPr sz="1811">
              <a:solidFill>
                <a:srgbClr val="6B0000"/>
              </a:solidFill>
            </a:endParaRPr>
          </a:p>
        </p:txBody>
      </p:sp>
    </p:spTree>
    <p:custDataLst>
      <p:tags r:id="rId12"/>
    </p:custDataLst>
    <p:extLst>
      <p:ext uri="{BB962C8B-B14F-4D97-AF65-F5344CB8AC3E}">
        <p14:creationId xmlns:p14="http://schemas.microsoft.com/office/powerpoint/2010/main" val="926538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</p:sldLayoutIdLst>
  <p:txStyles>
    <p:titleStyle>
      <a:lvl1pPr algn="l" defTabSz="962002" rtl="0" eaLnBrk="1" latinLnBrk="0" hangingPunct="1">
        <a:spcBef>
          <a:spcPct val="0"/>
        </a:spcBef>
        <a:buNone/>
        <a:defRPr lang="en-CA" sz="2745" kern="1200" noProof="1" smtClean="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66115" marR="0" indent="-266115" algn="l" defTabSz="961748" rtl="0" eaLnBrk="1" fontAlgn="base" latinLnBrk="0" hangingPunct="1">
        <a:lnSpc>
          <a:spcPct val="100000"/>
        </a:lnSpc>
        <a:spcBef>
          <a:spcPct val="40000"/>
        </a:spcBef>
        <a:spcAft>
          <a:spcPct val="0"/>
        </a:spcAft>
        <a:buClr>
          <a:srgbClr val="464547"/>
        </a:buClr>
        <a:buSzPts val="2400"/>
        <a:buFont typeface="Verdana" pitchFamily="34" charset="0"/>
        <a:buChar char="•"/>
        <a:tabLst/>
        <a:defRPr kumimoji="0" lang="en-US" altLang="zh-CN" sz="1765" b="0" i="0" u="none" strike="noStrike" kern="1200" cap="none" spc="0" normalizeH="0" baseline="0" noProof="1" dirty="0" smtClean="0">
          <a:ln>
            <a:noFill/>
          </a:ln>
          <a:solidFill>
            <a:schemeClr val="tx1"/>
          </a:solidFill>
          <a:effectLst/>
          <a:uLnTx/>
          <a:uFillTx/>
          <a:latin typeface="Calibri" panose="020F0502020204030204" pitchFamily="34" charset="0"/>
          <a:ea typeface="+mn-ea"/>
          <a:cs typeface="+mn-cs"/>
        </a:defRPr>
      </a:lvl1pPr>
      <a:lvl2pPr marL="563354" marR="0" indent="-116717" algn="l" defTabSz="961748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SzPts val="2200"/>
        <a:buFont typeface="Verdana"/>
        <a:buChar char="-"/>
        <a:tabLst/>
        <a:defRPr lang="en-US" altLang="zh-CN" sz="1568" kern="1200" baseline="0" noProof="1" dirty="0" smtClean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031778" marR="0" indent="-281677" algn="l" defTabSz="961748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SzPts val="2200"/>
        <a:buFont typeface="Marlett" pitchFamily="2" charset="2"/>
        <a:buChar char="8"/>
        <a:tabLst/>
        <a:defRPr lang="en-US" altLang="en-US" sz="1568" kern="1200" noProof="1" dirty="0" smtClean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425254" marR="0" indent="-206169" algn="l" defTabSz="96200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tx1"/>
        </a:buClr>
        <a:buSzTx/>
        <a:buFont typeface="Verdana" pitchFamily="34" charset="0"/>
        <a:buChar char="-"/>
        <a:tabLst/>
        <a:defRPr lang="en-US" altLang="zh-CN" sz="1568" kern="1200" dirty="0" smtClean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164504" indent="-240501" algn="l" defTabSz="962002" rtl="0" eaLnBrk="1" latinLnBrk="0" hangingPunct="1">
        <a:spcBef>
          <a:spcPct val="20000"/>
        </a:spcBef>
        <a:buFont typeface="Arial" pitchFamily="34" charset="0"/>
        <a:buChar char="»"/>
        <a:defRPr sz="2353" kern="1200">
          <a:solidFill>
            <a:schemeClr val="tx1"/>
          </a:solidFill>
          <a:latin typeface="Verdana" pitchFamily="34" charset="0"/>
          <a:ea typeface="+mn-ea"/>
          <a:cs typeface="+mn-cs"/>
        </a:defRPr>
      </a:lvl5pPr>
      <a:lvl6pPr marL="2645505" indent="-240501" algn="l" defTabSz="962002" rtl="0" eaLnBrk="1" latinLnBrk="0" hangingPunct="1">
        <a:spcBef>
          <a:spcPct val="20000"/>
        </a:spcBef>
        <a:buFont typeface="Arial" pitchFamily="34" charset="0"/>
        <a:buChar char="•"/>
        <a:defRPr sz="2059" kern="1200">
          <a:solidFill>
            <a:schemeClr val="tx1"/>
          </a:solidFill>
          <a:latin typeface="+mn-lt"/>
          <a:ea typeface="+mn-ea"/>
          <a:cs typeface="+mn-cs"/>
        </a:defRPr>
      </a:lvl6pPr>
      <a:lvl7pPr marL="3126506" indent="-240501" algn="l" defTabSz="962002" rtl="0" eaLnBrk="1" latinLnBrk="0" hangingPunct="1">
        <a:spcBef>
          <a:spcPct val="20000"/>
        </a:spcBef>
        <a:buFont typeface="Arial" pitchFamily="34" charset="0"/>
        <a:buChar char="•"/>
        <a:defRPr sz="2059" kern="1200">
          <a:solidFill>
            <a:schemeClr val="tx1"/>
          </a:solidFill>
          <a:latin typeface="+mn-lt"/>
          <a:ea typeface="+mn-ea"/>
          <a:cs typeface="+mn-cs"/>
        </a:defRPr>
      </a:lvl7pPr>
      <a:lvl8pPr marL="3607507" indent="-240501" algn="l" defTabSz="962002" rtl="0" eaLnBrk="1" latinLnBrk="0" hangingPunct="1">
        <a:spcBef>
          <a:spcPct val="20000"/>
        </a:spcBef>
        <a:buFont typeface="Arial" pitchFamily="34" charset="0"/>
        <a:buChar char="•"/>
        <a:defRPr sz="2059" kern="1200">
          <a:solidFill>
            <a:schemeClr val="tx1"/>
          </a:solidFill>
          <a:latin typeface="+mn-lt"/>
          <a:ea typeface="+mn-ea"/>
          <a:cs typeface="+mn-cs"/>
        </a:defRPr>
      </a:lvl8pPr>
      <a:lvl9pPr marL="4088508" indent="-240501" algn="l" defTabSz="962002" rtl="0" eaLnBrk="1" latinLnBrk="0" hangingPunct="1">
        <a:spcBef>
          <a:spcPct val="20000"/>
        </a:spcBef>
        <a:buFont typeface="Arial" pitchFamily="34" charset="0"/>
        <a:buChar char="•"/>
        <a:defRPr sz="20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2002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81001" algn="l" defTabSz="962002" rtl="0" eaLnBrk="1" latinLnBrk="0" hangingPunct="1">
        <a:defRPr sz="1863" kern="1200">
          <a:solidFill>
            <a:schemeClr val="tx1"/>
          </a:solidFill>
          <a:latin typeface="+mn-lt"/>
          <a:ea typeface="+mn-ea"/>
          <a:cs typeface="+mn-cs"/>
        </a:defRPr>
      </a:lvl2pPr>
      <a:lvl3pPr marL="962002" algn="l" defTabSz="962002" rtl="0" eaLnBrk="1" latinLnBrk="0" hangingPunct="1">
        <a:defRPr sz="1863" kern="1200">
          <a:solidFill>
            <a:schemeClr val="tx1"/>
          </a:solidFill>
          <a:latin typeface="+mn-lt"/>
          <a:ea typeface="+mn-ea"/>
          <a:cs typeface="+mn-cs"/>
        </a:defRPr>
      </a:lvl3pPr>
      <a:lvl4pPr marL="1443003" algn="l" defTabSz="962002" rtl="0" eaLnBrk="1" latinLnBrk="0" hangingPunct="1">
        <a:defRPr sz="1863" kern="1200">
          <a:solidFill>
            <a:schemeClr val="tx1"/>
          </a:solidFill>
          <a:latin typeface="+mn-lt"/>
          <a:ea typeface="+mn-ea"/>
          <a:cs typeface="+mn-cs"/>
        </a:defRPr>
      </a:lvl4pPr>
      <a:lvl5pPr marL="1924003" algn="l" defTabSz="962002" rtl="0" eaLnBrk="1" latinLnBrk="0" hangingPunct="1">
        <a:defRPr sz="1863" kern="1200">
          <a:solidFill>
            <a:schemeClr val="tx1"/>
          </a:solidFill>
          <a:latin typeface="+mn-lt"/>
          <a:ea typeface="+mn-ea"/>
          <a:cs typeface="+mn-cs"/>
        </a:defRPr>
      </a:lvl5pPr>
      <a:lvl6pPr marL="2405004" algn="l" defTabSz="962002" rtl="0" eaLnBrk="1" latinLnBrk="0" hangingPunct="1">
        <a:defRPr sz="1863" kern="1200">
          <a:solidFill>
            <a:schemeClr val="tx1"/>
          </a:solidFill>
          <a:latin typeface="+mn-lt"/>
          <a:ea typeface="+mn-ea"/>
          <a:cs typeface="+mn-cs"/>
        </a:defRPr>
      </a:lvl6pPr>
      <a:lvl7pPr marL="2886005" algn="l" defTabSz="962002" rtl="0" eaLnBrk="1" latinLnBrk="0" hangingPunct="1">
        <a:defRPr sz="1863" kern="1200">
          <a:solidFill>
            <a:schemeClr val="tx1"/>
          </a:solidFill>
          <a:latin typeface="+mn-lt"/>
          <a:ea typeface="+mn-ea"/>
          <a:cs typeface="+mn-cs"/>
        </a:defRPr>
      </a:lvl7pPr>
      <a:lvl8pPr marL="3367006" algn="l" defTabSz="962002" rtl="0" eaLnBrk="1" latinLnBrk="0" hangingPunct="1">
        <a:defRPr sz="1863" kern="1200">
          <a:solidFill>
            <a:schemeClr val="tx1"/>
          </a:solidFill>
          <a:latin typeface="+mn-lt"/>
          <a:ea typeface="+mn-ea"/>
          <a:cs typeface="+mn-cs"/>
        </a:defRPr>
      </a:lvl8pPr>
      <a:lvl9pPr marL="3848007" algn="l" defTabSz="962002" rtl="0" eaLnBrk="1" latinLnBrk="0" hangingPunct="1">
        <a:defRPr sz="18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3544" y="1812718"/>
            <a:ext cx="7790688" cy="2386584"/>
          </a:xfrm>
        </p:spPr>
        <p:txBody>
          <a:bodyPr/>
          <a:lstStyle/>
          <a:p>
            <a:r>
              <a:rPr lang="en-US" sz="4800" b="1" dirty="0"/>
              <a:t>PITCHING YOUR VENTURE: Basic Principles</a:t>
            </a:r>
            <a:br>
              <a:rPr lang="en-US" sz="4800" b="1" dirty="0"/>
            </a:br>
            <a:endParaRPr lang="en-US" sz="4800" b="1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923544" y="3565528"/>
            <a:ext cx="7790688" cy="1548045"/>
          </a:xfrm>
        </p:spPr>
        <p:txBody>
          <a:bodyPr/>
          <a:lstStyle/>
          <a:p>
            <a:endParaRPr lang="en-US" sz="2400" dirty="0"/>
          </a:p>
          <a:p>
            <a:pPr>
              <a:spcBef>
                <a:spcPts val="600"/>
              </a:spcBef>
            </a:pPr>
            <a:r>
              <a:rPr lang="en-US" sz="3200" dirty="0"/>
              <a:t>New Social Ventures</a:t>
            </a:r>
          </a:p>
          <a:p>
            <a:r>
              <a:rPr lang="en-US" sz="3200" dirty="0"/>
              <a:t>Robert Gertner</a:t>
            </a:r>
          </a:p>
        </p:txBody>
      </p:sp>
      <p:sp>
        <p:nvSpPr>
          <p:cNvPr id="7" name="BainBulletsConfiguration" hidden="1"/>
          <p:cNvSpPr txBox="1"/>
          <p:nvPr/>
        </p:nvSpPr>
        <p:spPr>
          <a:xfrm>
            <a:off x="12700" y="12700"/>
            <a:ext cx="8890000" cy="107722"/>
          </a:xfrm>
          <a:prstGeom prst="rect">
            <a:avLst/>
          </a:prstGeom>
          <a:noFill/>
        </p:spPr>
        <p:txBody>
          <a:bodyPr vert="horz" wrap="square" lIns="45720" rIns="45720" rtlCol="0">
            <a:spAutoFit/>
          </a:bodyPr>
          <a:lstStyle/>
          <a:p>
            <a:endParaRPr lang="en-US" sz="1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1571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495" y="387968"/>
            <a:ext cx="9089885" cy="960771"/>
          </a:xfrm>
        </p:spPr>
        <p:txBody>
          <a:bodyPr/>
          <a:lstStyle/>
          <a:p>
            <a:r>
              <a:rPr lang="en-US" b="1" dirty="0"/>
              <a:t>Pitch presentation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95" y="1448656"/>
            <a:ext cx="9081135" cy="4982965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/>
              <a:t>Think of your pitch as a story – the story of your venture.</a:t>
            </a:r>
          </a:p>
          <a:p>
            <a:pPr marL="457200" lvl="1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/>
              <a:t>The narrative structure is important and you should not follow a formulaic checkbox for building your pitch but figure out how to best tell your venture’s story.</a:t>
            </a:r>
          </a:p>
          <a:p>
            <a:pPr marL="457200" lvl="1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/>
              <a:t>It is the story of your venture, and the founders are a part of the story, but not </a:t>
            </a:r>
            <a:r>
              <a:rPr lang="en-US" b="1" dirty="0"/>
              <a:t>the </a:t>
            </a:r>
            <a:r>
              <a:rPr lang="en-US" dirty="0"/>
              <a:t>story.</a:t>
            </a:r>
          </a:p>
          <a:p>
            <a:pPr marL="1144588" lvl="2" indent="-342900">
              <a:spcBef>
                <a:spcPts val="0"/>
              </a:spcBef>
              <a:spcAft>
                <a:spcPts val="300"/>
              </a:spcAft>
            </a:pPr>
            <a:r>
              <a:rPr lang="en-US" sz="2000" dirty="0"/>
              <a:t>For social ventures it is especially important to demonstrate why the venture matters to you and why you are committed to it. </a:t>
            </a:r>
          </a:p>
          <a:p>
            <a:pPr marL="1144588" lvl="2" indent="-342900">
              <a:spcBef>
                <a:spcPts val="0"/>
              </a:spcBef>
              <a:spcAft>
                <a:spcPts val="300"/>
              </a:spcAft>
            </a:pPr>
            <a:r>
              <a:rPr lang="en-US" sz="2000" dirty="0"/>
              <a:t>But much of how you got to where you are is not important. </a:t>
            </a:r>
          </a:p>
          <a:p>
            <a:pPr marL="1144588" lvl="2" indent="-342900">
              <a:spcBef>
                <a:spcPts val="0"/>
              </a:spcBef>
              <a:spcAft>
                <a:spcPts val="300"/>
              </a:spcAft>
            </a:pPr>
            <a:r>
              <a:rPr lang="en-US" sz="2000" dirty="0"/>
              <a:t>Getting the balance right is a challenge. </a:t>
            </a:r>
          </a:p>
          <a:p>
            <a:pPr marL="457200" lvl="1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b="1" dirty="0"/>
              <a:t>An effective way to tell much of the story is through a users’ experience.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/>
              <a:t>Think about your audience and what they care about.</a:t>
            </a:r>
          </a:p>
          <a:p>
            <a:pPr marL="457200" lvl="1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/>
              <a:t>We tend to focus on investors.</a:t>
            </a:r>
          </a:p>
          <a:p>
            <a:pPr marL="457200" lvl="1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/>
              <a:t>But your ideal pitch may vary if you are pitching potential partners, advisors, suppliers, distributors, or grant makers.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54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4064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495" y="387968"/>
            <a:ext cx="9089885" cy="960771"/>
          </a:xfrm>
        </p:spPr>
        <p:txBody>
          <a:bodyPr/>
          <a:lstStyle/>
          <a:p>
            <a:r>
              <a:rPr lang="en-US" b="1" dirty="0"/>
              <a:t>Investor pitch presentation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95" y="1348740"/>
            <a:ext cx="9081135" cy="5082882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dirty="0"/>
              <a:t>What do you do?</a:t>
            </a:r>
          </a:p>
          <a:p>
            <a:pPr marL="457200" lvl="1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800" dirty="0"/>
              <a:t>If you have a long introduction (&gt; 1 minute) before getting to this, you should describe what you do in one or two sentences first.</a:t>
            </a:r>
          </a:p>
          <a:p>
            <a:pPr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dirty="0"/>
              <a:t>What is the problem you solve? Whose problem is it?</a:t>
            </a:r>
          </a:p>
          <a:p>
            <a:pPr marL="457200" lvl="1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800" dirty="0"/>
              <a:t>The tendency is to spend a lot of time on the problem. Don’t. It is usually easy to be convincing about the importance of the problem relative to the solution.</a:t>
            </a:r>
          </a:p>
          <a:p>
            <a:pPr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dirty="0"/>
              <a:t>How does your venture solve the problem?</a:t>
            </a:r>
          </a:p>
          <a:p>
            <a:pPr marL="457200" lvl="1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800" dirty="0"/>
              <a:t>Think value proposition – how do you create value for CUBs; theory of change</a:t>
            </a:r>
          </a:p>
          <a:p>
            <a:pPr marL="457200" lvl="1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800" dirty="0"/>
              <a:t>Explain the product offering/technology clearly for your audience</a:t>
            </a:r>
          </a:p>
          <a:p>
            <a:pPr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dirty="0"/>
              <a:t>How does your venture work as a business?</a:t>
            </a:r>
          </a:p>
          <a:p>
            <a:pPr marL="457200" lvl="1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800" dirty="0"/>
              <a:t>Venture economics, revenue model, marketing/sales strategy, other important factors</a:t>
            </a:r>
          </a:p>
          <a:p>
            <a:pPr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dirty="0"/>
              <a:t>How are you going to build the venture?</a:t>
            </a:r>
          </a:p>
          <a:p>
            <a:pPr marL="457200" lvl="1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800" dirty="0"/>
              <a:t>Team/advisors, timeline, financials, go-to market</a:t>
            </a:r>
          </a:p>
          <a:p>
            <a:pPr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dirty="0"/>
              <a:t>What have you accomplished so far?</a:t>
            </a:r>
          </a:p>
          <a:p>
            <a:pPr marL="457200" lvl="1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dirty="0"/>
              <a:t>Tangible progress is critical for making people believe you can/will do it.</a:t>
            </a:r>
          </a:p>
          <a:p>
            <a:pPr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dirty="0"/>
              <a:t>What are you asking for and what will you accomplish with it (socially and financially) </a:t>
            </a:r>
          </a:p>
          <a:p>
            <a:pPr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dirty="0"/>
              <a:t>What does success looks like and why should one believe that the venture will succeed.  </a:t>
            </a:r>
          </a:p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54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1448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495" y="387968"/>
            <a:ext cx="9089885" cy="960771"/>
          </a:xfrm>
        </p:spPr>
        <p:txBody>
          <a:bodyPr/>
          <a:lstStyle/>
          <a:p>
            <a:r>
              <a:rPr lang="en-US" b="1" dirty="0"/>
              <a:t>Investor pitch presentation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95" y="1448656"/>
            <a:ext cx="9081135" cy="4982965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/>
              <a:t>Your presentation deck is a visual aid for a live presentation.</a:t>
            </a:r>
          </a:p>
          <a:p>
            <a:pPr marL="457200" lvl="1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/>
              <a:t>You want people to listen; if they are reading details they are not listening.</a:t>
            </a:r>
          </a:p>
          <a:p>
            <a:pPr marL="457200" lvl="1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/>
              <a:t>You will need a different document if you want someone to read it independently.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/>
              <a:t>Limit the number of words and digits on slides. 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/>
              <a:t>Make everything easily legible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/>
              <a:t>Use testimonials from experts and users to make your case. 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/>
              <a:t>Use screenshots, wireframes, photos of product/ people using the product. </a:t>
            </a:r>
          </a:p>
          <a:p>
            <a:pPr marL="457200" lvl="1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b="1" dirty="0"/>
              <a:t>Carefully choreographed </a:t>
            </a:r>
            <a:r>
              <a:rPr lang="en-US" dirty="0"/>
              <a:t>video demos can be great.</a:t>
            </a:r>
          </a:p>
          <a:p>
            <a:pPr marL="457200" lvl="1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/>
              <a:t>Live demos are usually a mistake. 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/>
              <a:t>Craft and edit a storyboard before you build your </a:t>
            </a:r>
            <a:r>
              <a:rPr lang="en-US" dirty="0" err="1"/>
              <a:t>slidedeck</a:t>
            </a:r>
            <a:r>
              <a:rPr lang="en-US" dirty="0"/>
              <a:t>.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endParaRPr lang="en-US" dirty="0"/>
          </a:p>
          <a:p>
            <a:pPr marL="457200" lvl="1" indent="0">
              <a:spcBef>
                <a:spcPts val="0"/>
              </a:spcBef>
              <a:spcAft>
                <a:spcPts val="300"/>
              </a:spcAft>
              <a:buNone/>
            </a:pPr>
            <a:endParaRPr lang="en-US" dirty="0"/>
          </a:p>
          <a:p>
            <a:pPr marL="457200" lvl="1" indent="0">
              <a:spcBef>
                <a:spcPts val="0"/>
              </a:spcBef>
              <a:spcAft>
                <a:spcPts val="300"/>
              </a:spcAft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54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633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495" y="387968"/>
            <a:ext cx="9089885" cy="960771"/>
          </a:xfrm>
        </p:spPr>
        <p:txBody>
          <a:bodyPr/>
          <a:lstStyle/>
          <a:p>
            <a:r>
              <a:rPr lang="en-US" b="1" dirty="0"/>
              <a:t>Use a storyboard for your presentation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326" y="1476926"/>
            <a:ext cx="9081135" cy="4982965"/>
          </a:xfrm>
        </p:spPr>
        <p:txBody>
          <a:bodyPr/>
          <a:lstStyle/>
          <a:p>
            <a:pPr marL="0" indent="0" eaLnBrk="0" hangingPunct="0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dirty="0">
                <a:cs typeface="Times New Roman" pitchFamily="18" charset="0"/>
              </a:rPr>
              <a:t>A storyboard (in our context) is simply a high-level summary of pitch presentation that lays out the narrative of your argument.</a:t>
            </a:r>
            <a:endParaRPr lang="en-US" dirty="0"/>
          </a:p>
          <a:p>
            <a:pPr marL="0" indent="0" eaLnBrk="0" hangingPunct="0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dirty="0">
                <a:cs typeface="Times New Roman" pitchFamily="18" charset="0"/>
              </a:rPr>
              <a:t>Single page of headlines with important additional detail </a:t>
            </a:r>
          </a:p>
          <a:p>
            <a:pPr marL="457200" lvl="1" indent="0" eaLnBrk="0" hangingPunct="0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dirty="0">
                <a:cs typeface="Times New Roman" pitchFamily="18" charset="0"/>
              </a:rPr>
              <a:t>Can be created and edited as a text document or with post-it notes, each with a single entry.</a:t>
            </a:r>
          </a:p>
          <a:p>
            <a:pPr marL="0" indent="0" eaLnBrk="0" hangingPunct="0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dirty="0">
                <a:cs typeface="Times New Roman" pitchFamily="18" charset="0"/>
              </a:rPr>
              <a:t>Benefits relative to drafting presentation directly:</a:t>
            </a:r>
            <a:endParaRPr lang="en-US" dirty="0"/>
          </a:p>
          <a:p>
            <a:pPr marL="829406" lvl="1" indent="-342900" eaLnBrk="0" hangingPunct="0">
              <a:spcBef>
                <a:spcPts val="0"/>
              </a:spcBef>
              <a:spcAft>
                <a:spcPts val="600"/>
              </a:spcAft>
              <a:buClr>
                <a:srgbClr val="FFC027"/>
              </a:buClr>
              <a:defRPr/>
            </a:pPr>
            <a:r>
              <a:rPr lang="en-US" kern="1100" dirty="0"/>
              <a:t>Easier to create, edit, revise, read</a:t>
            </a:r>
          </a:p>
          <a:p>
            <a:pPr marL="829406" lvl="1" indent="-342900" eaLnBrk="0" hangingPunct="0">
              <a:spcBef>
                <a:spcPts val="0"/>
              </a:spcBef>
              <a:spcAft>
                <a:spcPts val="600"/>
              </a:spcAft>
              <a:buClr>
                <a:srgbClr val="FFC027"/>
              </a:buClr>
              <a:defRPr/>
            </a:pPr>
            <a:r>
              <a:rPr lang="en-US" kern="1100" dirty="0"/>
              <a:t>Allows focused discussion on structure and content rather than style </a:t>
            </a:r>
          </a:p>
          <a:p>
            <a:pPr marL="829406" lvl="1" indent="-342900" eaLnBrk="0" hangingPunct="0">
              <a:spcBef>
                <a:spcPts val="0"/>
              </a:spcBef>
              <a:spcAft>
                <a:spcPts val="600"/>
              </a:spcAft>
              <a:buClr>
                <a:srgbClr val="FFC027"/>
              </a:buClr>
              <a:defRPr/>
            </a:pPr>
            <a:r>
              <a:rPr lang="en-US" kern="1100" dirty="0"/>
              <a:t>Saves time and improves final presentation quality</a:t>
            </a:r>
          </a:p>
          <a:p>
            <a:pPr marL="29306" indent="0" eaLnBrk="0" hangingPunct="0">
              <a:spcBef>
                <a:spcPts val="0"/>
              </a:spcBef>
              <a:spcAft>
                <a:spcPts val="600"/>
              </a:spcAft>
              <a:buClr>
                <a:srgbClr val="FFC027"/>
              </a:buClr>
              <a:buNone/>
              <a:defRPr/>
            </a:pPr>
            <a:r>
              <a:rPr lang="en-US" kern="1100" dirty="0"/>
              <a:t>Can be used as a building block for your presentation deck and can be easily edited and manipulated for different audiences and stages.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endParaRPr lang="en-US" dirty="0"/>
          </a:p>
          <a:p>
            <a:pPr marL="457200" lvl="1" indent="0">
              <a:spcBef>
                <a:spcPts val="0"/>
              </a:spcBef>
              <a:spcAft>
                <a:spcPts val="300"/>
              </a:spcAft>
              <a:buNone/>
            </a:pPr>
            <a:endParaRPr lang="en-US" dirty="0"/>
          </a:p>
          <a:p>
            <a:pPr marL="457200" lvl="1" indent="0">
              <a:spcBef>
                <a:spcPts val="0"/>
              </a:spcBef>
              <a:spcAft>
                <a:spcPts val="300"/>
              </a:spcAft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54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9112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" val="Bridgespan"/>
  <p:tag name="MEKKOFORMATS" val="&lt;MekkoFormats&gt;&lt;NumberFormat DecimalSeparator=&quot;.&quot; ThousandSeparator=&quot;,&quot; NegativeNumberFormat=&quot;1&quot; /&gt;&lt;Font&gt;&lt;Output_Font_Name Default=&quot;Verdana&quot; UsePPTTheme=&quot;True&quot; /&gt;&lt;/Font&gt;&lt;/MekkoFormats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BODYINDENTATION" val="0;21.37504;35.87496;45.25;60.25;82.87504;97.92001;114.48;"/>
  <p:tag name="VCT-BULLETVISIBILITY" val="G****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BODYINDENTATION" val="0;21.37504;35.87496;45.25;60.25;82.87504;97.92001;114.48;"/>
  <p:tag name="VCT-BULLETVISIBILITY" val="G****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Bridgespan">
  <a:themeElements>
    <a:clrScheme name="Bridgespan">
      <a:dk1>
        <a:srgbClr val="464547"/>
      </a:dk1>
      <a:lt1>
        <a:srgbClr val="D0D1D3"/>
      </a:lt1>
      <a:dk2>
        <a:srgbClr val="FFFFFF"/>
      </a:dk2>
      <a:lt2>
        <a:srgbClr val="00437A"/>
      </a:lt2>
      <a:accent1>
        <a:srgbClr val="00A9E0"/>
      </a:accent1>
      <a:accent2>
        <a:srgbClr val="F08613"/>
      </a:accent2>
      <a:accent3>
        <a:srgbClr val="747678"/>
      </a:accent3>
      <a:accent4>
        <a:srgbClr val="008542"/>
      </a:accent4>
      <a:accent5>
        <a:srgbClr val="7AB800"/>
      </a:accent5>
      <a:accent6>
        <a:srgbClr val="70CDE3"/>
      </a:accent6>
      <a:hlink>
        <a:srgbClr val="00A9E0"/>
      </a:hlink>
      <a:folHlink>
        <a:srgbClr val="00A9E0"/>
      </a:folHlink>
    </a:clrScheme>
    <a:fontScheme name="Bridgespa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9050">
          <a:noFill/>
        </a:ln>
      </a:spPr>
      <a:bodyPr lIns="36000" tIns="36000" rIns="36000" bIns="36000" rtlCol="0" anchor="ctr"/>
      <a:lstStyle>
        <a:defPPr algn="ctr">
          <a:defRPr sz="1800"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 cap="rnd">
          <a:solidFill>
            <a:schemeClr val="accent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45720" rIns="45720" rtlCol="0">
        <a:spAutoFit/>
      </a:bodyPr>
      <a:lstStyle>
        <a:defPPr>
          <a:defRPr sz="1800" dirty="0" smtClean="0"/>
        </a:defPPr>
      </a:lstStyle>
    </a:txDef>
  </a:objectDefaults>
  <a:extraClrSchemeLst/>
  <a:custClrLst>
    <a:custClr name="TBG Grey 40">
      <a:srgbClr val="D0D1D3"/>
    </a:custClr>
    <a:custClr name="TBG Grey 60">
      <a:srgbClr val="BBBBB4"/>
    </a:custClr>
    <a:custClr name="TBG Grey 80">
      <a:srgbClr val="A5A6A9"/>
    </a:custClr>
    <a:custClr name="TBG Med Grey">
      <a:srgbClr val="747678"/>
    </a:custClr>
    <a:custClr name="TBG Dark Grey">
      <a:srgbClr val="5F6062"/>
    </a:custClr>
    <a:custClr name="Black">
      <a:srgbClr val="000000"/>
    </a:custClr>
    <a:custClr name="TBG Light Blue">
      <a:srgbClr val="70CDE3"/>
    </a:custClr>
    <a:custClr name="TBG Med Blue">
      <a:srgbClr val="00A9E0"/>
    </a:custClr>
    <a:custClr name="TBG Dark Blue">
      <a:srgbClr val="00437A"/>
    </a:custClr>
    <a:custClr name="TBG Lime">
      <a:srgbClr val="C1D82F"/>
    </a:custClr>
    <a:custClr name="TBG Purple">
      <a:srgbClr val="8F689E"/>
    </a:custClr>
    <a:custClr name="TBG Hay">
      <a:srgbClr val="DAC792"/>
    </a:custClr>
    <a:custClr name="TBG Red">
      <a:srgbClr val="F15D22"/>
    </a:custClr>
    <a:custClr name="TBG Yellow">
      <a:srgbClr val="FFCF01"/>
    </a:custClr>
  </a:custClrLst>
  <a:extLst>
    <a:ext uri="{05A4C25C-085E-4340-85A3-A5531E510DB2}">
      <thm15:themeFamily xmlns:thm15="http://schemas.microsoft.com/office/thememl/2012/main" name="Bridgespan PPT template.potx" id="{707136DE-0272-4F8E-8091-65AC4C0210F8}" vid="{94E87389-B612-439B-85DF-350A603A65D4}"/>
    </a:ext>
  </a:extLst>
</a:theme>
</file>

<file path=ppt/theme/theme2.xml><?xml version="1.0" encoding="utf-8"?>
<a:theme xmlns:a="http://schemas.openxmlformats.org/drawingml/2006/main" name="2_Bridgespan">
  <a:themeElements>
    <a:clrScheme name="Bridgespan">
      <a:dk1>
        <a:srgbClr val="464547"/>
      </a:dk1>
      <a:lt1>
        <a:srgbClr val="D0D1D3"/>
      </a:lt1>
      <a:dk2>
        <a:srgbClr val="FFFFFF"/>
      </a:dk2>
      <a:lt2>
        <a:srgbClr val="00437A"/>
      </a:lt2>
      <a:accent1>
        <a:srgbClr val="00A9E0"/>
      </a:accent1>
      <a:accent2>
        <a:srgbClr val="F08613"/>
      </a:accent2>
      <a:accent3>
        <a:srgbClr val="747678"/>
      </a:accent3>
      <a:accent4>
        <a:srgbClr val="008542"/>
      </a:accent4>
      <a:accent5>
        <a:srgbClr val="7AB800"/>
      </a:accent5>
      <a:accent6>
        <a:srgbClr val="70CDE3"/>
      </a:accent6>
      <a:hlink>
        <a:srgbClr val="00A9E0"/>
      </a:hlink>
      <a:folHlink>
        <a:srgbClr val="00A9E0"/>
      </a:folHlink>
    </a:clrScheme>
    <a:fontScheme name="Bridgespa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9050">
          <a:noFill/>
        </a:ln>
      </a:spPr>
      <a:bodyPr lIns="36000" tIns="36000" rIns="36000" bIns="36000" rtlCol="0" anchor="ctr"/>
      <a:lstStyle>
        <a:defPPr algn="ctr">
          <a:defRPr sz="1800"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 cap="rnd">
          <a:solidFill>
            <a:schemeClr val="accent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45720" rIns="45720" rtlCol="0">
        <a:spAutoFit/>
      </a:bodyPr>
      <a:lstStyle>
        <a:defPPr>
          <a:defRPr sz="1800" dirty="0" smtClean="0"/>
        </a:defPPr>
      </a:lstStyle>
    </a:txDef>
  </a:objectDefaults>
  <a:extraClrSchemeLst/>
  <a:custClrLst>
    <a:custClr name="TBG Grey 40">
      <a:srgbClr val="D0D1D3"/>
    </a:custClr>
    <a:custClr name="TBG Grey 60">
      <a:srgbClr val="BBBBB4"/>
    </a:custClr>
    <a:custClr name="TBG Grey 80">
      <a:srgbClr val="A5A6A9"/>
    </a:custClr>
    <a:custClr name="TBG Med Grey">
      <a:srgbClr val="747678"/>
    </a:custClr>
    <a:custClr name="TBG Dark Grey">
      <a:srgbClr val="5F6062"/>
    </a:custClr>
    <a:custClr name="Black">
      <a:srgbClr val="000000"/>
    </a:custClr>
    <a:custClr name="TBG Light Blue">
      <a:srgbClr val="70CDE3"/>
    </a:custClr>
    <a:custClr name="TBG Med Blue">
      <a:srgbClr val="00A9E0"/>
    </a:custClr>
    <a:custClr name="TBG Dark Blue">
      <a:srgbClr val="00437A"/>
    </a:custClr>
    <a:custClr name="TBG Lime">
      <a:srgbClr val="C1D82F"/>
    </a:custClr>
    <a:custClr name="TBG Purple">
      <a:srgbClr val="8F689E"/>
    </a:custClr>
    <a:custClr name="TBG Hay">
      <a:srgbClr val="DAC792"/>
    </a:custClr>
    <a:custClr name="TBG Red">
      <a:srgbClr val="F15D22"/>
    </a:custClr>
    <a:custClr name="TBG Yellow">
      <a:srgbClr val="FFCF01"/>
    </a:custClr>
  </a:custClrLst>
  <a:extLst>
    <a:ext uri="{05A4C25C-085E-4340-85A3-A5531E510DB2}">
      <thm15:themeFamily xmlns:thm15="http://schemas.microsoft.com/office/thememl/2012/main" name="Bridgespan PPT template.potx" id="{707136DE-0272-4F8E-8091-65AC4C0210F8}" vid="{94E87389-B612-439B-85DF-350A603A65D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36966</TotalTime>
  <Words>626</Words>
  <Application>Microsoft Office PowerPoint</Application>
  <PresentationFormat>Custom</PresentationFormat>
  <Paragraphs>58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Marlett</vt:lpstr>
      <vt:lpstr>Verdana</vt:lpstr>
      <vt:lpstr>1_Bridgespan</vt:lpstr>
      <vt:lpstr>2_Bridgespan</vt:lpstr>
      <vt:lpstr>PITCHING YOUR VENTURE: Basic Principles </vt:lpstr>
      <vt:lpstr>Pitch presentation principles</vt:lpstr>
      <vt:lpstr>Investor pitch presentation content</vt:lpstr>
      <vt:lpstr>Investor pitch presentation deck</vt:lpstr>
      <vt:lpstr>Use a storyboard for your presentation deck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Leading for Impact: Theory of change</dc:title>
  <dc:creator>Anne-Marie Flannery</dc:creator>
  <cp:lastModifiedBy>Gertner, Robert H.</cp:lastModifiedBy>
  <cp:revision>375</cp:revision>
  <cp:lastPrinted>2023-02-16T16:05:51Z</cp:lastPrinted>
  <dcterms:modified xsi:type="dcterms:W3CDTF">2026-02-24T22:04:24Z</dcterms:modified>
</cp:coreProperties>
</file>